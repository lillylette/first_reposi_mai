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B2F921-65CE-4C98-B15D-01EB405FA5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7337F9-D90B-4037-9A15-EED0413F8C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1715F2-F227-44EA-8621-D5C985C02A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02AEAEA-1F33-4766-B489-E762BA17BB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C62B0EE-3FB9-45A4-BD00-1A4A280647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0E442F-00EE-458D-958E-7460E1CD430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9ACA26-A75E-437E-828C-95C6E8D2393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E06011-147E-4A93-B5A2-ED511A65A8F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AEB5BF-F774-4A9F-82BD-6555C90852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63EE24-88A5-4E94-890D-426F3F3431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0A2593-86D2-4E0C-895A-FD578D0A9C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4262E1-21D5-4DFF-9FEF-8AC14EB79F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B76326-19BE-492E-9CBF-D7ED1E4A44A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725921-9F4F-4A78-8C22-8CF490B1069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3B26D7-FA07-408D-9774-CD6653F0B82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396B4F-BC70-44C6-9795-A3EF68F10E2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166824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br>
              <a:rPr sz="7200"/>
            </a:br>
            <a:r>
              <a:rPr b="0" lang="ru-RU" sz="7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Приложение </a:t>
            </a:r>
            <a:r>
              <a:rPr b="0" lang="en-US" sz="7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“</a:t>
            </a:r>
            <a:r>
              <a:rPr b="0" lang="ru-RU" sz="7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Фотоальбом</a:t>
            </a:r>
            <a:r>
              <a:rPr b="0" lang="en-US" sz="7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”</a:t>
            </a:r>
            <a:endParaRPr b="0" lang="en-US" sz="7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371600" y="44550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50a0ff"/>
                </a:solidFill>
                <a:effectLst/>
                <a:uFillTx/>
                <a:latin typeface="Century Gothic"/>
              </a:rPr>
              <a:t>презентация проекта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0" y="0"/>
            <a:ext cx="365400" cy="6857640"/>
          </a:xfrm>
          <a:prstGeom prst="rect">
            <a:avLst/>
          </a:prstGeom>
          <a:solidFill>
            <a:srgbClr val="50a0ff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4"/>
          <p:cNvSpPr/>
          <p:nvPr/>
        </p:nvSpPr>
        <p:spPr>
          <a:xfrm>
            <a:off x="7315200" y="5943600"/>
            <a:ext cx="1645560" cy="548280"/>
          </a:xfrm>
          <a:prstGeom prst="rect">
            <a:avLst/>
          </a:prstGeom>
          <a:solidFill>
            <a:srgbClr val="282828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a0ff"/>
                </a:solidFill>
                <a:effectLst/>
                <a:uFillTx/>
                <a:latin typeface="Consolas"/>
              </a:rPr>
              <a:t>&lt;code/&gt;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Овал 7"/>
          <p:cNvSpPr/>
          <p:nvPr/>
        </p:nvSpPr>
        <p:spPr>
          <a:xfrm rot="15351600">
            <a:off x="6035760" y="2347560"/>
            <a:ext cx="2161080" cy="2163600"/>
          </a:xfrm>
          <a:prstGeom prst="ellipse">
            <a:avLst/>
          </a:prstGeom>
          <a:gradFill rotWithShape="0">
            <a:gsLst>
              <a:gs pos="0">
                <a:srgbClr val="a4c1ff"/>
              </a:gs>
              <a:gs pos="100000">
                <a:srgbClr val="3e7fcc">
                  <a:alpha val="18000"/>
                </a:srgbClr>
              </a:gs>
            </a:gsLst>
            <a:lin ang="2700000"/>
          </a:gradFill>
          <a:ln w="9360">
            <a:noFill/>
          </a:ln>
          <a:effectLst>
            <a:glow rad="1511280">
              <a:srgbClr val="4f81bd">
                <a:alpha val="78000"/>
              </a:srgbClr>
            </a:glow>
            <a:outerShdw dist="23040" dir="5400000" blurRad="660240" rotWithShape="0">
              <a:srgbClr val="000000">
                <a:alpha val="1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ru-RU" sz="5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Актуальность и польза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420920"/>
            <a:ext cx="4953600" cy="491076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t">
            <a:normAutofit fontScale="92500" lnSpcReduction="9999"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</a:t>
            </a: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Удобная локальная галерея для хранения фотографий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</a:t>
            </a: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Возможность группировать фото по заголовкам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</a:t>
            </a: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Возможность обработать изображение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</a:t>
            </a: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Работа без интернет‑подключения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0" y="0"/>
            <a:ext cx="365400" cy="6857640"/>
          </a:xfrm>
          <a:prstGeom prst="rect">
            <a:avLst/>
          </a:prstGeom>
          <a:solidFill>
            <a:srgbClr val="50a0ff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4"/>
          <p:cNvSpPr/>
          <p:nvPr/>
        </p:nvSpPr>
        <p:spPr>
          <a:xfrm>
            <a:off x="7315200" y="5943600"/>
            <a:ext cx="1645560" cy="548280"/>
          </a:xfrm>
          <a:prstGeom prst="rect">
            <a:avLst/>
          </a:prstGeom>
          <a:solidFill>
            <a:srgbClr val="282828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a0ff"/>
                </a:solidFill>
                <a:effectLst/>
                <a:uFillTx/>
                <a:latin typeface="Consolas"/>
              </a:rPr>
              <a:t>&lt;code/&gt;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Рисунок 5" descr=""/>
          <p:cNvPicPr/>
          <p:nvPr/>
        </p:nvPicPr>
        <p:blipFill>
          <a:blip r:embed="rId1"/>
          <a:stretch/>
        </p:blipFill>
        <p:spPr>
          <a:xfrm>
            <a:off x="5380560" y="2315520"/>
            <a:ext cx="3336480" cy="2226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Прямоугольник: скругленные углы 12"/>
          <p:cNvSpPr/>
          <p:nvPr/>
        </p:nvSpPr>
        <p:spPr>
          <a:xfrm>
            <a:off x="1591200" y="3649320"/>
            <a:ext cx="5892840" cy="2180520"/>
          </a:xfrm>
          <a:prstGeom prst="roundRect">
            <a:avLst>
              <a:gd name="adj" fmla="val 16667"/>
            </a:avLst>
          </a:prstGeom>
          <a:solidFill>
            <a:schemeClr val="dk2">
              <a:lumMod val="40000"/>
              <a:lumOff val="60000"/>
              <a:alpha val="10000"/>
            </a:schemeClr>
          </a:solidFill>
          <a:ln w="38160">
            <a:solidFill>
              <a:schemeClr val="accent1">
                <a:shade val="95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Прямоугольник: скругленные углы 6"/>
          <p:cNvSpPr/>
          <p:nvPr/>
        </p:nvSpPr>
        <p:spPr>
          <a:xfrm>
            <a:off x="773640" y="1698840"/>
            <a:ext cx="7596720" cy="7322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4b86dd"/>
              </a:gs>
              <a:gs pos="100000">
                <a:srgbClr val="0e2137">
                  <a:alpha val="0"/>
                </a:srgbClr>
              </a:gs>
              <a:gs pos="100000">
                <a:srgbClr val="4b86dd"/>
              </a:gs>
            </a:gsLst>
            <a:lin ang="16200000"/>
          </a:gradFill>
          <a:ln w="9360">
            <a:solidFill>
              <a:schemeClr val="accent1">
                <a:lumMod val="45000"/>
                <a:lumOff val="5500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highlight>
                <a:srgbClr val="4b86dd"/>
              </a:highlight>
              <a:uFillTx/>
              <a:latin typeface="Calibri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ru-RU" sz="5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Аналоги и сравнение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-793440" y="2499120"/>
            <a:ext cx="149760" cy="52560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t">
            <a:normAutofit fontScale="55000" lnSpcReduction="19999"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0" y="0"/>
            <a:ext cx="365400" cy="6857640"/>
          </a:xfrm>
          <a:prstGeom prst="rect">
            <a:avLst/>
          </a:prstGeom>
          <a:solidFill>
            <a:srgbClr val="50a0ff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4"/>
          <p:cNvSpPr/>
          <p:nvPr/>
        </p:nvSpPr>
        <p:spPr>
          <a:xfrm>
            <a:off x="7315200" y="5943600"/>
            <a:ext cx="1645560" cy="548280"/>
          </a:xfrm>
          <a:prstGeom prst="rect">
            <a:avLst/>
          </a:prstGeom>
          <a:solidFill>
            <a:srgbClr val="282828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a0ff"/>
                </a:solidFill>
                <a:effectLst/>
                <a:uFillTx/>
                <a:latin typeface="Consolas"/>
              </a:rPr>
              <a:t>&lt;code/&gt;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709200" y="1698840"/>
            <a:ext cx="77248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8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Существующие </a:t>
            </a:r>
            <a:r>
              <a:rPr b="0" lang="ru-RU" sz="18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onsolas"/>
              </a:rPr>
              <a:t>аналоги</a:t>
            </a:r>
            <a:r>
              <a:rPr b="0" lang="ru-RU" sz="18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ru-RU" sz="18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— </a:t>
            </a:r>
            <a:r>
              <a:rPr b="0" lang="en-US" sz="18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Google Photos</a:t>
            </a:r>
            <a:r>
              <a:rPr b="0" lang="ru-RU" sz="18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, </a:t>
            </a:r>
            <a:r>
              <a:rPr b="0" lang="en-US" sz="18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Microsoft Photos, </a:t>
            </a:r>
            <a:r>
              <a:rPr b="0" lang="ru-RU" sz="18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Приложение </a:t>
            </a:r>
            <a:r>
              <a:rPr b="0" lang="en-US" sz="18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“</a:t>
            </a:r>
            <a:r>
              <a:rPr b="0" lang="ru-RU" sz="18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Галерея</a:t>
            </a:r>
            <a:r>
              <a:rPr b="0" lang="en-US" sz="18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”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1889640" y="2629800"/>
            <a:ext cx="5868720" cy="9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4000" strike="noStrike" u="none">
                <a:solidFill>
                  <a:srgbClr val="e6e6e6"/>
                </a:solidFill>
                <a:effectLst/>
                <a:uFillTx/>
                <a:latin typeface="Century Gothic"/>
              </a:rPr>
              <a:t>Преимущества проекта: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1921320" y="3649320"/>
            <a:ext cx="53017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onsolas"/>
              </a:rPr>
              <a:t>•</a:t>
            </a:r>
            <a:r>
              <a:rPr b="0" lang="ru-RU" sz="24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 Полностью локальная работа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1829520" y="4235400"/>
            <a:ext cx="5484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onsolas"/>
              </a:rPr>
              <a:t>•</a:t>
            </a:r>
            <a:r>
              <a:rPr b="0" lang="ru-RU" sz="24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 Гибкая структура заголовков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1372320" y="4799160"/>
            <a:ext cx="639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onsolas"/>
              </a:rPr>
              <a:t>•</a:t>
            </a:r>
            <a:r>
              <a:rPr b="0" lang="ru-RU" sz="24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 Минимальные системные требования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2428200" y="5350320"/>
            <a:ext cx="38386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onsolas"/>
              </a:rPr>
              <a:t>•</a:t>
            </a:r>
            <a:r>
              <a:rPr b="0" lang="ru-RU" sz="2400" strike="noStrike" u="none">
                <a:solidFill>
                  <a:srgbClr val="e6e6e6"/>
                </a:solidFill>
                <a:effectLst/>
                <a:uFillTx/>
                <a:latin typeface="Consolas"/>
              </a:rPr>
              <a:t> Множество фильтров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ru-RU" sz="5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Аналоги и сравнение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-793440" y="2499120"/>
            <a:ext cx="149760" cy="52560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t">
            <a:normAutofit fontScale="55000" lnSpcReduction="19999"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1"/>
          <p:cNvSpPr/>
          <p:nvPr/>
        </p:nvSpPr>
        <p:spPr>
          <a:xfrm>
            <a:off x="0" y="0"/>
            <a:ext cx="365400" cy="6857640"/>
          </a:xfrm>
          <a:prstGeom prst="rect">
            <a:avLst/>
          </a:prstGeom>
          <a:solidFill>
            <a:srgbClr val="50a0ff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7315200" y="5943600"/>
            <a:ext cx="1645560" cy="548280"/>
          </a:xfrm>
          <a:prstGeom prst="rect">
            <a:avLst/>
          </a:prstGeom>
          <a:solidFill>
            <a:srgbClr val="282828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a0ff"/>
                </a:solidFill>
                <a:effectLst/>
                <a:uFillTx/>
                <a:latin typeface="Consolas"/>
              </a:rPr>
              <a:t>&lt;code/&gt;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"/>
          <p:cNvSpPr/>
          <p:nvPr/>
        </p:nvSpPr>
        <p:spPr>
          <a:xfrm>
            <a:off x="4480920" y="1698840"/>
            <a:ext cx="1810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4559040" y="2629800"/>
            <a:ext cx="5274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6" name=""/>
          <p:cNvGraphicFramePr/>
          <p:nvPr/>
        </p:nvGraphicFramePr>
        <p:xfrm>
          <a:off x="461160" y="1557360"/>
          <a:ext cx="8439840" cy="4211280"/>
        </p:xfrm>
        <a:graphic>
          <a:graphicData uri="http://schemas.openxmlformats.org/drawingml/2006/table">
            <a:tbl>
              <a:tblPr/>
              <a:tblGrid>
                <a:gridCol w="1686600"/>
                <a:gridCol w="1686600"/>
                <a:gridCol w="1686600"/>
                <a:gridCol w="1686600"/>
                <a:gridCol w="1693800"/>
              </a:tblGrid>
              <a:tr h="84204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</a:tr>
              <a:tr h="84204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</a:tr>
              <a:tr h="84204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</a:tr>
              <a:tr h="84204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</a:tr>
              <a:tr h="84348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ru-RU" sz="2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32400">
                      <a:solidFill>
                        <a:srgbClr val="50a0ff"/>
                      </a:solidFill>
                      <a:prstDash val="solid"/>
                    </a:lnL>
                    <a:lnR w="32400">
                      <a:solidFill>
                        <a:srgbClr val="50a0ff"/>
                      </a:solidFill>
                      <a:prstDash val="solid"/>
                    </a:lnR>
                    <a:lnT w="32400">
                      <a:solidFill>
                        <a:srgbClr val="50a0ff"/>
                      </a:solidFill>
                      <a:prstDash val="solid"/>
                    </a:lnT>
                    <a:lnB w="32400">
                      <a:solidFill>
                        <a:srgbClr val="50a0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7" name=""/>
          <p:cNvSpPr txBox="1"/>
          <p:nvPr/>
        </p:nvSpPr>
        <p:spPr>
          <a:xfrm>
            <a:off x="461160" y="1835280"/>
            <a:ext cx="166464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Характеристика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160720" y="1774440"/>
            <a:ext cx="167364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ФотоАльбом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868920" y="1809000"/>
            <a:ext cx="1644120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Google Photos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5790240" y="1647360"/>
            <a:ext cx="1192680" cy="7124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Microsoft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 Photos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492680" y="1662120"/>
            <a:ext cx="1235520" cy="7124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Галерея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(Android)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51600" y="2482200"/>
            <a:ext cx="149004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Хранение данных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61160" y="3330360"/>
            <a:ext cx="172620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Организация фото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507600" y="4340880"/>
            <a:ext cx="1646640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Комментарии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779400" y="5126040"/>
            <a:ext cx="108072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Импорт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176200" y="2626560"/>
            <a:ext cx="1766520" cy="65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Локальная БД</a:t>
            </a: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001400" y="2632320"/>
            <a:ext cx="135504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Облачное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662800" y="2522520"/>
            <a:ext cx="1509480" cy="7124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Локальные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  файлы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402680" y="2511000"/>
            <a:ext cx="1509480" cy="7124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Локальные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   файлы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095200" y="3243240"/>
            <a:ext cx="2095920" cy="93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По  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фотосессиям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 с заголовками</a:t>
            </a: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908160" y="3277800"/>
            <a:ext cx="1528920" cy="9176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/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По дате/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алгоритмам 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ИИ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617080" y="3359520"/>
            <a:ext cx="1551240" cy="7124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По папкам/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датам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318440" y="3198960"/>
            <a:ext cx="1531800" cy="1023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По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альбомам/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датам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280600" y="4174920"/>
            <a:ext cx="1500480" cy="7124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К каждому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фото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000680" y="4052520"/>
            <a:ext cx="1354680" cy="1023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Только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описания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альбомов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055560" y="4329720"/>
            <a:ext cx="58752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Нет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777800" y="4323240"/>
            <a:ext cx="57312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Нет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401560" y="5189400"/>
            <a:ext cx="120384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Из папок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839040" y="5045400"/>
            <a:ext cx="1738440" cy="7124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Автозагрузка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с устройств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732280" y="4889160"/>
            <a:ext cx="1355040" cy="1023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Импорт с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камеры/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устройств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365960" y="5016600"/>
            <a:ext cx="1384920" cy="7124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Импорт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Century Gothic"/>
              </a:rPr>
              <a:t> с камеры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Использованные технологии и виджеты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12160" y="2033280"/>
            <a:ext cx="6055920" cy="305280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t">
            <a:normAutofit fontScale="85000" lnSpcReduction="19999"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Python 3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PyQt6 — GUI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sqlite3 —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база данных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shutil, os —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работа с файлами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QPixmap, QFileDialog, QListWidget </a:t>
            </a: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и др.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3"/>
          <p:cNvSpPr/>
          <p:nvPr/>
        </p:nvSpPr>
        <p:spPr>
          <a:xfrm>
            <a:off x="0" y="0"/>
            <a:ext cx="365400" cy="6857640"/>
          </a:xfrm>
          <a:prstGeom prst="rect">
            <a:avLst/>
          </a:prstGeom>
          <a:solidFill>
            <a:srgbClr val="50a0ff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4"/>
          <p:cNvSpPr/>
          <p:nvPr/>
        </p:nvSpPr>
        <p:spPr>
          <a:xfrm>
            <a:off x="7315200" y="5943600"/>
            <a:ext cx="1645560" cy="548280"/>
          </a:xfrm>
          <a:prstGeom prst="rect">
            <a:avLst/>
          </a:prstGeom>
          <a:solidFill>
            <a:srgbClr val="282828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a0ff"/>
                </a:solidFill>
                <a:effectLst/>
                <a:uFillTx/>
                <a:latin typeface="Consolas"/>
              </a:rPr>
              <a:t>&lt;code/&gt;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Рисунок 6" descr=""/>
          <p:cNvPicPr/>
          <p:nvPr/>
        </p:nvPicPr>
        <p:blipFill>
          <a:blip r:embed="rId1"/>
          <a:stretch/>
        </p:blipFill>
        <p:spPr>
          <a:xfrm>
            <a:off x="6381720" y="2276280"/>
            <a:ext cx="2304720" cy="230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Прямоугольник: скругленные углы 8"/>
          <p:cNvSpPr/>
          <p:nvPr/>
        </p:nvSpPr>
        <p:spPr>
          <a:xfrm>
            <a:off x="844560" y="2033280"/>
            <a:ext cx="4621680" cy="3052800"/>
          </a:xfrm>
          <a:prstGeom prst="roundRect">
            <a:avLst>
              <a:gd name="adj" fmla="val 16667"/>
            </a:avLst>
          </a:prstGeom>
          <a:solidFill>
            <a:schemeClr val="dk2">
              <a:lumMod val="60000"/>
              <a:lumOff val="40000"/>
              <a:alpha val="8000"/>
            </a:schemeClr>
          </a:solidFill>
          <a:ln w="4140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Структура базы данных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3"/>
          <p:cNvSpPr/>
          <p:nvPr/>
        </p:nvSpPr>
        <p:spPr>
          <a:xfrm>
            <a:off x="0" y="0"/>
            <a:ext cx="365400" cy="6857640"/>
          </a:xfrm>
          <a:prstGeom prst="rect">
            <a:avLst/>
          </a:prstGeom>
          <a:solidFill>
            <a:srgbClr val="50a0ff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4"/>
          <p:cNvSpPr/>
          <p:nvPr/>
        </p:nvSpPr>
        <p:spPr>
          <a:xfrm>
            <a:off x="7315200" y="5943600"/>
            <a:ext cx="1645560" cy="548280"/>
          </a:xfrm>
          <a:prstGeom prst="rect">
            <a:avLst/>
          </a:prstGeom>
          <a:solidFill>
            <a:srgbClr val="282828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a0ff"/>
                </a:solidFill>
                <a:effectLst/>
                <a:uFillTx/>
                <a:latin typeface="Consolas"/>
              </a:rPr>
              <a:t>&lt;code/&gt;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1504080" y="946800"/>
            <a:ext cx="6223320" cy="466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"/>
          <p:cNvSpPr txBox="1"/>
          <p:nvPr/>
        </p:nvSpPr>
        <p:spPr>
          <a:xfrm>
            <a:off x="469440" y="4830120"/>
            <a:ext cx="867456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Таблицы связаны отношением: один заголовок может содержать множество фотографий, а каждая фотография принадлежит только одному заголовку через внешний ключ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Основные функции приложения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182880" rIns="182880" tIns="182880" bIns="18288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 Инициализация БД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 Добавление фото с группировкой по заголовку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 Предварительный просмотр изображения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 Просмотр заголовков и связанных фото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• Автоматическое копирование изображений в галерею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3"/>
          <p:cNvSpPr/>
          <p:nvPr/>
        </p:nvSpPr>
        <p:spPr>
          <a:xfrm>
            <a:off x="0" y="0"/>
            <a:ext cx="365400" cy="6857640"/>
          </a:xfrm>
          <a:prstGeom prst="rect">
            <a:avLst/>
          </a:prstGeom>
          <a:solidFill>
            <a:srgbClr val="50a0ff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4"/>
          <p:cNvSpPr/>
          <p:nvPr/>
        </p:nvSpPr>
        <p:spPr>
          <a:xfrm>
            <a:off x="7315200" y="5943600"/>
            <a:ext cx="1645560" cy="548280"/>
          </a:xfrm>
          <a:prstGeom prst="rect">
            <a:avLst/>
          </a:prstGeom>
          <a:solidFill>
            <a:srgbClr val="282828"/>
          </a:solidFill>
          <a:ln w="9360">
            <a:solidFill>
              <a:srgbClr val="50a0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a0ff"/>
                </a:solidFill>
                <a:effectLst/>
                <a:uFillTx/>
                <a:latin typeface="Consolas"/>
              </a:rPr>
              <a:t>&lt;code/&gt;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Константин Кирьянов</dc:creator>
  <dc:description>generated using python-pptx</dc:description>
  <dc:language>en-US</dc:language>
  <cp:lastModifiedBy/>
  <dcterms:modified xsi:type="dcterms:W3CDTF">2025-12-02T23:13:39Z</dcterms:modified>
  <cp:revision>13</cp:revision>
  <dc:subject/>
  <dc:title>Приложение “Фотоальбом”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r8>7</vt:r8>
  </property>
</Properties>
</file>