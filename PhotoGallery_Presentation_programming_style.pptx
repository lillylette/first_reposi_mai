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A0FF"/>
    <a:srgbClr val="4B8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12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68105"/>
            <a:ext cx="7772400" cy="1470025"/>
          </a:xfrm>
        </p:spPr>
        <p:txBody>
          <a:bodyPr lIns="182880" tIns="182880" rIns="182880" bIns="182880">
            <a:noAutofit/>
          </a:bodyPr>
          <a:lstStyle/>
          <a:p>
            <a:br>
              <a:rPr lang="ru-RU" sz="7200" dirty="0">
                <a:solidFill>
                  <a:srgbClr val="E6E6E6"/>
                </a:solidFill>
                <a:latin typeface="Century Gothic" panose="020B0502020202020204" pitchFamily="34" charset="0"/>
              </a:rPr>
            </a:br>
            <a:r>
              <a:rPr lang="ru-RU" sz="7200" dirty="0">
                <a:solidFill>
                  <a:srgbClr val="E6E6E6"/>
                </a:solidFill>
                <a:latin typeface="Century Gothic" panose="020B0502020202020204" pitchFamily="34" charset="0"/>
              </a:rPr>
              <a:t>Приложение</a:t>
            </a:r>
            <a:r>
              <a:rPr sz="7200" dirty="0">
                <a:solidFill>
                  <a:srgbClr val="E6E6E6"/>
                </a:solidFill>
                <a:latin typeface="Century Gothic" panose="020B0502020202020204" pitchFamily="34" charset="0"/>
              </a:rPr>
              <a:t> </a:t>
            </a:r>
            <a:r>
              <a:rPr lang="en-US" sz="7200" dirty="0">
                <a:solidFill>
                  <a:srgbClr val="E6E6E6"/>
                </a:solidFill>
                <a:latin typeface="Century Gothic" panose="020B0502020202020204" pitchFamily="34" charset="0"/>
              </a:rPr>
              <a:t>“</a:t>
            </a:r>
            <a:r>
              <a:rPr lang="ru-RU" sz="7200" dirty="0">
                <a:solidFill>
                  <a:srgbClr val="E6E6E6"/>
                </a:solidFill>
                <a:latin typeface="Century Gothic" panose="020B0502020202020204" pitchFamily="34" charset="0"/>
              </a:rPr>
              <a:t>Фотоальбом</a:t>
            </a:r>
            <a:r>
              <a:rPr lang="en-US" sz="7200" dirty="0">
                <a:solidFill>
                  <a:srgbClr val="E6E6E6"/>
                </a:solidFill>
                <a:latin typeface="Century Gothic" panose="020B0502020202020204" pitchFamily="34" charset="0"/>
              </a:rPr>
              <a:t>”</a:t>
            </a:r>
            <a:endParaRPr sz="7200" dirty="0">
              <a:solidFill>
                <a:srgbClr val="E6E6E6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54882"/>
            <a:ext cx="6400800" cy="1752600"/>
          </a:xfrm>
        </p:spPr>
        <p:txBody>
          <a:bodyPr lIns="182880" tIns="182880" rIns="182880" bIns="182880"/>
          <a:lstStyle/>
          <a:p>
            <a:r>
              <a:rPr lang="ru-RU" sz="2400" dirty="0">
                <a:solidFill>
                  <a:srgbClr val="50A0FF"/>
                </a:solidFill>
                <a:latin typeface="Century Gothic" panose="020B0502020202020204" pitchFamily="34" charset="0"/>
              </a:rPr>
              <a:t>презентация проекта</a:t>
            </a:r>
          </a:p>
          <a:p>
            <a:endParaRPr sz="2400" dirty="0">
              <a:solidFill>
                <a:srgbClr val="50A0FF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Овал 7">
            <a:extLst>
              <a:ext uri="{FF2B5EF4-FFF2-40B4-BE49-F238E27FC236}">
                <a16:creationId xmlns:a16="http://schemas.microsoft.com/office/drawing/2014/main" id="{B5A6BBA3-BCCF-4085-BE4C-B9623A44A3E5}"/>
              </a:ext>
            </a:extLst>
          </p:cNvPr>
          <p:cNvSpPr/>
          <p:nvPr/>
        </p:nvSpPr>
        <p:spPr>
          <a:xfrm rot="15351373">
            <a:off x="6035791" y="2346970"/>
            <a:ext cx="2161551" cy="2164059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  <a:alpha val="18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glow rad="1511300">
              <a:schemeClr val="accent1">
                <a:alpha val="78000"/>
              </a:schemeClr>
            </a:glow>
            <a:outerShdw blurRad="660400" dist="23000" dir="5400000" rotWithShape="0">
              <a:srgbClr val="000000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>
            <a:noAutofit/>
          </a:bodyPr>
          <a:lstStyle/>
          <a:p>
            <a:r>
              <a:rPr lang="ru-RU" sz="5400" dirty="0">
                <a:solidFill>
                  <a:srgbClr val="50A0FF"/>
                </a:solidFill>
                <a:latin typeface="Century Gothic" panose="020B0502020202020204" pitchFamily="34" charset="0"/>
              </a:rPr>
              <a:t>Актуальность и польза</a:t>
            </a:r>
            <a:endParaRPr sz="5400" dirty="0">
              <a:solidFill>
                <a:srgbClr val="50A0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0770"/>
            <a:ext cx="4954044" cy="4911137"/>
          </a:xfrm>
        </p:spPr>
        <p:txBody>
          <a:bodyPr lIns="182880" tIns="182880" rIns="182880" bIns="182880">
            <a:normAutofit/>
          </a:bodyPr>
          <a:lstStyle/>
          <a:p>
            <a:pPr marL="0" indent="0">
              <a:buNone/>
            </a:pPr>
            <a:r>
              <a:rPr sz="2400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Удобная локальная галерея для хранения фотографий</a:t>
            </a:r>
          </a:p>
          <a:p>
            <a:pPr marL="0" indent="0">
              <a:buNone/>
            </a:pPr>
            <a:endParaRPr sz="2400" dirty="0">
              <a:solidFill>
                <a:srgbClr val="E6E6E6"/>
              </a:solidFill>
              <a:latin typeface="Consolas"/>
            </a:endParaRPr>
          </a:p>
          <a:p>
            <a:pPr marL="0" indent="0">
              <a:buNone/>
            </a:pPr>
            <a:r>
              <a:rPr sz="2400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Возможность группировать фото по заголовкам</a:t>
            </a:r>
          </a:p>
          <a:p>
            <a:pPr marL="0" indent="0">
              <a:buNone/>
            </a:pPr>
            <a:endParaRPr sz="2400" dirty="0">
              <a:solidFill>
                <a:srgbClr val="E6E6E6"/>
              </a:solidFill>
              <a:latin typeface="Consolas"/>
            </a:endParaRPr>
          </a:p>
          <a:p>
            <a:pPr marL="0" indent="0">
              <a:buNone/>
            </a:pPr>
            <a:r>
              <a:rPr sz="2400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Простое добавление и просмотр изображений</a:t>
            </a:r>
          </a:p>
          <a:p>
            <a:pPr marL="0" indent="0">
              <a:buNone/>
            </a:pPr>
            <a:endParaRPr sz="2400" dirty="0">
              <a:solidFill>
                <a:srgbClr val="E6E6E6"/>
              </a:solidFill>
              <a:latin typeface="Consolas"/>
            </a:endParaRPr>
          </a:p>
          <a:p>
            <a:pPr marL="0" indent="0">
              <a:buNone/>
            </a:pPr>
            <a:r>
              <a:rPr sz="2400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Работа без интернет‑подключения</a:t>
            </a:r>
            <a:endParaRPr sz="2400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dirty="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51CA974-248E-42CF-9B88-A13574418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556" y="2315575"/>
            <a:ext cx="3336933" cy="22268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D51E2E9-BB62-4F93-8009-3C528021031F}"/>
              </a:ext>
            </a:extLst>
          </p:cNvPr>
          <p:cNvSpPr/>
          <p:nvPr/>
        </p:nvSpPr>
        <p:spPr>
          <a:xfrm>
            <a:off x="1591054" y="3649244"/>
            <a:ext cx="5893243" cy="2180850"/>
          </a:xfrm>
          <a:prstGeom prst="round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  <a:ln w="38100">
            <a:solidFill>
              <a:schemeClr val="accent1">
                <a:shade val="95000"/>
                <a:satMod val="10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A91AAD9-FAFC-46DB-9688-5D66C3BCEF7C}"/>
              </a:ext>
            </a:extLst>
          </p:cNvPr>
          <p:cNvSpPr/>
          <p:nvPr/>
        </p:nvSpPr>
        <p:spPr>
          <a:xfrm>
            <a:off x="773482" y="1698669"/>
            <a:ext cx="7597036" cy="732773"/>
          </a:xfrm>
          <a:prstGeom prst="roundRect">
            <a:avLst/>
          </a:prstGeom>
          <a:gradFill>
            <a:gsLst>
              <a:gs pos="100000">
                <a:schemeClr val="accent1">
                  <a:tint val="100000"/>
                  <a:shade val="100000"/>
                  <a:satMod val="130000"/>
                  <a:alpha val="0"/>
                  <a:lumMod val="26000"/>
                </a:schemeClr>
              </a:gs>
              <a:gs pos="100000">
                <a:srgbClr val="4B86DD"/>
              </a:gs>
              <a:gs pos="0">
                <a:srgbClr val="4B86DD"/>
              </a:gs>
            </a:gsLst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40000" dist="23000" dir="5400000" sx="86000" sy="86000" rotWithShape="0">
              <a:srgbClr val="000000">
                <a:alpha val="3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highlight>
                <a:srgbClr val="4B86DD"/>
              </a:highligh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>
            <a:noAutofit/>
          </a:bodyPr>
          <a:lstStyle/>
          <a:p>
            <a:r>
              <a:rPr lang="ru-RU" sz="5400" dirty="0">
                <a:solidFill>
                  <a:srgbClr val="50A0FF"/>
                </a:solidFill>
                <a:latin typeface="Century Gothic" panose="020B0502020202020204" pitchFamily="34" charset="0"/>
              </a:rPr>
              <a:t>Аналоги и сравнение</a:t>
            </a:r>
            <a:endParaRPr sz="5400" dirty="0">
              <a:solidFill>
                <a:srgbClr val="50A0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93523" y="2499190"/>
            <a:ext cx="150239" cy="525845"/>
          </a:xfrm>
        </p:spPr>
        <p:txBody>
          <a:bodyPr lIns="182880" tIns="182880" rIns="182880" bIns="182880">
            <a:normAutofit fontScale="47500" lnSpcReduction="2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E6E6E6"/>
                </a:solidFill>
                <a:latin typeface="Consolas"/>
              </a:rPr>
              <a:t>.</a:t>
            </a:r>
            <a:endParaRPr sz="2400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592171-460D-489B-A01A-A954B3C8AE44}"/>
              </a:ext>
            </a:extLst>
          </p:cNvPr>
          <p:cNvSpPr txBox="1"/>
          <p:nvPr/>
        </p:nvSpPr>
        <p:spPr>
          <a:xfrm>
            <a:off x="997143" y="1698669"/>
            <a:ext cx="71497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E6E6E6"/>
                </a:solidFill>
                <a:latin typeface="Consolas"/>
              </a:rPr>
              <a:t>Существующие </a:t>
            </a:r>
            <a:r>
              <a:rPr lang="ru-RU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аналоги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lang="ru-RU" dirty="0">
                <a:solidFill>
                  <a:srgbClr val="E6E6E6"/>
                </a:solidFill>
                <a:latin typeface="Consolas"/>
              </a:rPr>
              <a:t>— 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Google Photos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, 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Microsoft Photos, 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Приложение 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“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Галерея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”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8BB385-3EFA-4FD8-88FE-932ED8DC80E1}"/>
              </a:ext>
            </a:extLst>
          </p:cNvPr>
          <p:cNvSpPr txBox="1"/>
          <p:nvPr/>
        </p:nvSpPr>
        <p:spPr>
          <a:xfrm>
            <a:off x="1502089" y="2629794"/>
            <a:ext cx="6644768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rgbClr val="E6E6E6"/>
                </a:solidFill>
                <a:latin typeface="Century Gothic" panose="020B0502020202020204" pitchFamily="34" charset="0"/>
              </a:rPr>
              <a:t>Преимущества проекта:</a:t>
            </a: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23ED21-2102-426F-9BEB-BB689CC4454B}"/>
              </a:ext>
            </a:extLst>
          </p:cNvPr>
          <p:cNvSpPr txBox="1"/>
          <p:nvPr/>
        </p:nvSpPr>
        <p:spPr>
          <a:xfrm>
            <a:off x="2100810" y="3649244"/>
            <a:ext cx="494237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Полностью локальная работа</a:t>
            </a: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AE121-4E0D-44F9-BFFB-704F8F1EB44F}"/>
              </a:ext>
            </a:extLst>
          </p:cNvPr>
          <p:cNvSpPr txBox="1"/>
          <p:nvPr/>
        </p:nvSpPr>
        <p:spPr>
          <a:xfrm>
            <a:off x="2015850" y="4235438"/>
            <a:ext cx="51122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Гибкая структура заголовков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6C6C40-A5AF-41F4-BE62-5998D715EF91}"/>
              </a:ext>
            </a:extLst>
          </p:cNvPr>
          <p:cNvSpPr txBox="1"/>
          <p:nvPr/>
        </p:nvSpPr>
        <p:spPr>
          <a:xfrm>
            <a:off x="1591054" y="4799241"/>
            <a:ext cx="5961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Минимальные системные требования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4E25D-8210-4D06-99EF-4DC926DFEE20}"/>
              </a:ext>
            </a:extLst>
          </p:cNvPr>
          <p:cNvSpPr txBox="1"/>
          <p:nvPr/>
        </p:nvSpPr>
        <p:spPr>
          <a:xfrm>
            <a:off x="2386208" y="5350146"/>
            <a:ext cx="392286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/>
              </a:rPr>
              <a:t>•</a:t>
            </a:r>
            <a:r>
              <a:rPr lang="ru-RU" sz="2400" dirty="0">
                <a:solidFill>
                  <a:srgbClr val="E6E6E6"/>
                </a:solidFill>
                <a:latin typeface="Consolas"/>
              </a:rPr>
              <a:t> Легкая расширяемость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>
            <a:noAutofit/>
          </a:bodyPr>
          <a:lstStyle/>
          <a:p>
            <a:r>
              <a:rPr lang="ru-RU" sz="4800" dirty="0">
                <a:solidFill>
                  <a:srgbClr val="50A0FF"/>
                </a:solidFill>
                <a:latin typeface="Century Gothic" panose="020B0502020202020204" pitchFamily="34" charset="0"/>
              </a:rPr>
              <a:t>Использованные технологии и виджеты</a:t>
            </a:r>
            <a:endParaRPr sz="4800" dirty="0">
              <a:solidFill>
                <a:srgbClr val="50A0FF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13" y="2033222"/>
            <a:ext cx="6056334" cy="3053218"/>
          </a:xfrm>
        </p:spPr>
        <p:txBody>
          <a:bodyPr lIns="182880" tIns="182880" rIns="182880" bIns="182880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 Python 3</a:t>
            </a:r>
          </a:p>
          <a:p>
            <a:pPr marL="0" indent="0">
              <a:buNone/>
            </a:pPr>
            <a:r>
              <a:rPr lang="en-US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 PyQt6 — GUI</a:t>
            </a:r>
          </a:p>
          <a:p>
            <a:pPr marL="0" indent="0">
              <a:buNone/>
            </a:pPr>
            <a:r>
              <a:rPr lang="en-US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 sqlite3 — 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база данных</a:t>
            </a:r>
          </a:p>
          <a:p>
            <a:pPr marL="0" indent="0">
              <a:buNone/>
            </a:pPr>
            <a:r>
              <a:rPr lang="ru-RU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Consolas"/>
              </a:rPr>
              <a:t>shutil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E6E6E6"/>
                </a:solidFill>
                <a:latin typeface="Consolas"/>
              </a:rPr>
              <a:t>os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 — 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работа с файлами</a:t>
            </a:r>
          </a:p>
          <a:p>
            <a:pPr marL="0" indent="0">
              <a:buNone/>
            </a:pPr>
            <a:r>
              <a:rPr lang="ru-RU" dirty="0">
                <a:solidFill>
                  <a:srgbClr val="50A0FF"/>
                </a:solidFill>
                <a:latin typeface="Consolas"/>
              </a:rPr>
              <a:t>•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E6E6E6"/>
                </a:solidFill>
                <a:latin typeface="Consolas"/>
              </a:rPr>
              <a:t>QPixmap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E6E6E6"/>
                </a:solidFill>
                <a:latin typeface="Consolas"/>
              </a:rPr>
              <a:t>QFileDialog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E6E6E6"/>
                </a:solidFill>
                <a:latin typeface="Consolas"/>
              </a:rPr>
              <a:t>QListWidget</a:t>
            </a:r>
            <a:r>
              <a:rPr lang="en-US" dirty="0">
                <a:solidFill>
                  <a:srgbClr val="E6E6E6"/>
                </a:solidFill>
                <a:latin typeface="Consolas"/>
              </a:rPr>
              <a:t> </a:t>
            </a:r>
            <a:r>
              <a:rPr lang="ru-RU" dirty="0">
                <a:solidFill>
                  <a:srgbClr val="E6E6E6"/>
                </a:solidFill>
                <a:latin typeface="Consolas"/>
              </a:rPr>
              <a:t>и др.</a:t>
            </a:r>
          </a:p>
          <a:p>
            <a:pPr marL="0" indent="0">
              <a:buNone/>
            </a:pPr>
            <a:endParaRPr sz="2400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C81499-2E53-480E-8D60-00F0C5FA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653" y="2276426"/>
            <a:ext cx="2305147" cy="2305147"/>
          </a:xfrm>
          <a:prstGeom prst="rect">
            <a:avLst/>
          </a:prstGeom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DE269E1-9240-4AF5-8399-7BB1B329A92F}"/>
              </a:ext>
            </a:extLst>
          </p:cNvPr>
          <p:cNvSpPr/>
          <p:nvPr/>
        </p:nvSpPr>
        <p:spPr>
          <a:xfrm>
            <a:off x="844568" y="2033222"/>
            <a:ext cx="4622104" cy="3053218"/>
          </a:xfrm>
          <a:prstGeom prst="roundRect">
            <a:avLst/>
          </a:prstGeom>
          <a:solidFill>
            <a:schemeClr val="tx2">
              <a:lumMod val="60000"/>
              <a:lumOff val="40000"/>
              <a:alpha val="8000"/>
            </a:schemeClr>
          </a:solidFill>
          <a:ln w="412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Структура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82880" tIns="182880" rIns="182880" bIns="182880">
            <a:normAutofit fontScale="92500" lnSpcReduction="20000"/>
          </a:bodyPr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Таблица titles: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 (PK)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description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title_date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title_location</a:t>
            </a:r>
          </a:p>
          <a:p>
            <a:endParaRPr sz="2400">
              <a:solidFill>
                <a:srgbClr val="E6E6E6"/>
              </a:solidFill>
              <a:latin typeface="Consolas"/>
            </a:endParaRP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Таблица photos: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id (PK)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file_name (UNIQUE)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photo_date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title_id (FK → titles.title)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comment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Связи в базе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82880" tIns="182880" rIns="182880" bIns="182880"/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Связи между таблицами: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titles (1) → photos (N)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title используется как внешний ключ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ON DELETE CASCADE обеспечивает удаление связанных фото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lIns="182880" tIns="182880" rIns="182880" bIns="182880"/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Основные функции приложения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182880" tIns="182880" rIns="182880" bIns="182880"/>
          <a:lstStyle/>
          <a:p>
            <a:r>
              <a:rPr sz="2400">
                <a:solidFill>
                  <a:srgbClr val="E6E6E6"/>
                </a:solidFill>
                <a:latin typeface="Consolas"/>
              </a:rPr>
              <a:t>• Инициализация БД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Добавление фото с группировкой по заголовку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Просмотр предварительного изображения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Просмотр заголовков и связанных фото</a:t>
            </a:r>
          </a:p>
          <a:p>
            <a:r>
              <a:rPr sz="2400">
                <a:solidFill>
                  <a:srgbClr val="E6E6E6"/>
                </a:solidFill>
                <a:latin typeface="Consolas"/>
              </a:rPr>
              <a:t>• Автоматическое копирование изображений в галерею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0A0FF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0" y="5943600"/>
            <a:ext cx="1645920" cy="548640"/>
          </a:xfrm>
          <a:prstGeom prst="rect">
            <a:avLst/>
          </a:prstGeom>
          <a:solidFill>
            <a:srgbClr val="282828"/>
          </a:solidFill>
          <a:ln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>
                <a:solidFill>
                  <a:srgbClr val="50A0FF"/>
                </a:solidFill>
                <a:latin typeface="Consolas"/>
              </a:rPr>
              <a:t>&lt;code/&gt;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239</Words>
  <Application>Microsoft Office PowerPoint</Application>
  <PresentationFormat>Экран (4:3)</PresentationFormat>
  <Paragraphs>56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Consolas</vt:lpstr>
      <vt:lpstr>Office Theme</vt:lpstr>
      <vt:lpstr> Приложение “Фотоальбом”</vt:lpstr>
      <vt:lpstr>Актуальность и польза</vt:lpstr>
      <vt:lpstr>Аналоги и сравнение</vt:lpstr>
      <vt:lpstr>Использованные технологии и виджеты</vt:lpstr>
      <vt:lpstr>Структура базы данных</vt:lpstr>
      <vt:lpstr>Связи в базе данных</vt:lpstr>
      <vt:lpstr>Основные функции приложения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Приложение “Фотоальбом”</dc:title>
  <dc:subject/>
  <dc:creator>Константин Кирьянов</dc:creator>
  <cp:keywords/>
  <dc:description>generated using python-pptx</dc:description>
  <cp:lastModifiedBy>Татьяна Кирьянова</cp:lastModifiedBy>
  <cp:revision>8</cp:revision>
  <dcterms:created xsi:type="dcterms:W3CDTF">2013-01-27T09:14:16Z</dcterms:created>
  <dcterms:modified xsi:type="dcterms:W3CDTF">2025-11-25T19:45:41Z</dcterms:modified>
  <cp:category/>
</cp:coreProperties>
</file>